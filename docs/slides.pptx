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MLB Player 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86C1"/>
                </a:solidFill>
              </a:defRPr>
            </a:pPr>
            <a:r>
              <a:t>Where Traditional Stats and Statcast Metrics Agree, Disagree,</a:t>
            </a:r>
            <a:br/>
            <a:r>
              <a:t>and What It Means for Player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</a:defRPr>
            </a:pPr>
            <a:r>
              <a:t>AJ Schoolcraft  |  ISBA 4715 Capstone  |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D6D7E"/>
                </a:solidFill>
              </a:defRPr>
            </a:pPr>
            <a:r>
              <a:t>Target Role: Baseball Operations Analyst, San Francisco Giants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rPr dirty="0"/>
              <a:t>Traditional Stats Systematically Undervalue Elite Contact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0728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</a:defRPr>
            </a:pPr>
            <a:r>
              <a:rPr dirty="0"/>
              <a:t>Descriptive: What happened across the league?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95538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Players with barrel rates above 10% outperform their batting</a:t>
            </a:r>
            <a:br>
              <a:rPr dirty="0"/>
            </a:br>
            <a:r>
              <a:rPr dirty="0"/>
              <a:t>average by ~45 points in </a:t>
            </a:r>
            <a:r>
              <a:rPr dirty="0" err="1"/>
              <a:t>xwOBA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Barrels produce a .684 BA and 2.236 SLG vs. .292/.368</a:t>
            </a:r>
            <a:br>
              <a:rPr dirty="0"/>
            </a:br>
            <a:r>
              <a:rPr dirty="0"/>
              <a:t>for non-barreled contact (2026 data)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The scatter plot reveals a clear cluster of 'undervalued'</a:t>
            </a:r>
            <a:br>
              <a:rPr dirty="0"/>
            </a:br>
            <a:r>
              <a:rPr dirty="0"/>
              <a:t>hitters — high </a:t>
            </a:r>
            <a:r>
              <a:rPr dirty="0" err="1"/>
              <a:t>xwOBA</a:t>
            </a:r>
            <a:r>
              <a:rPr dirty="0"/>
              <a:t>, low batting average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These gaps are not random — they correlate with</a:t>
            </a:r>
            <a:br>
              <a:rPr dirty="0"/>
            </a:br>
            <a:r>
              <a:rPr dirty="0"/>
              <a:t>measurable batted-ball quality (exit velocity, barrel 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7DA97-CAC4-FDB9-2755-1D1924CB9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778" y="1864483"/>
            <a:ext cx="6945761" cy="3681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High Exit Velocity + Low BABIP = Unlucky, Not Untalented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</a:defRPr>
            </a:pPr>
            <a:r>
              <a:t>Diagnostic: Why do results diverge from underlying quality?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27537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The gap between </a:t>
            </a:r>
            <a:r>
              <a:rPr dirty="0" err="1"/>
              <a:t>xwOBA</a:t>
            </a:r>
            <a:r>
              <a:rPr dirty="0"/>
              <a:t> and batting average is largest for</a:t>
            </a:r>
            <a:br>
              <a:rPr dirty="0"/>
            </a:br>
            <a:r>
              <a:rPr dirty="0"/>
              <a:t>players with high exit velocity but below-average BABIP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Rolling 15-game trends reveal when the gap develops —</a:t>
            </a:r>
            <a:br>
              <a:rPr dirty="0"/>
            </a:br>
            <a:r>
              <a:rPr dirty="0"/>
              <a:t>often after a streak of hard-hit balls finding fielders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Contact quality charts (barrel % + exit velo) confirm the</a:t>
            </a:r>
            <a:br>
              <a:rPr dirty="0"/>
            </a:br>
            <a:r>
              <a:rPr dirty="0"/>
              <a:t>hitter's process is sound even when results lag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</a:defRPr>
            </a:pPr>
            <a:r>
              <a:rPr dirty="0"/>
              <a:t>BABIP regresses toward ~.300 over time — players with</a:t>
            </a:r>
            <a:br>
              <a:rPr dirty="0"/>
            </a:br>
            <a:r>
              <a:rPr dirty="0"/>
              <a:t>low BABIP and high barrel rates are buy-low candidates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C5FBF-81C8-F34A-E5CE-DCCF42455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014" y="1419624"/>
            <a:ext cx="6727902" cy="2582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9B982-A32D-6C8E-4645-AC227B44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005" y="4002099"/>
            <a:ext cx="5321919" cy="281071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C2D63D-9B32-AE9E-2A5F-B2A42595C14A}"/>
              </a:ext>
            </a:extLst>
          </p:cNvPr>
          <p:cNvCxnSpPr/>
          <p:nvPr/>
        </p:nvCxnSpPr>
        <p:spPr>
          <a:xfrm flipH="1" flipV="1">
            <a:off x="9969190" y="3300761"/>
            <a:ext cx="1460810" cy="947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9B7BBA-2050-DA21-79E7-988FC33C4126}"/>
              </a:ext>
            </a:extLst>
          </p:cNvPr>
          <p:cNvSpPr txBox="1"/>
          <p:nvPr/>
        </p:nvSpPr>
        <p:spPr>
          <a:xfrm>
            <a:off x="11187924" y="4324443"/>
            <a:ext cx="910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</a:t>
            </a:r>
          </a:p>
          <a:p>
            <a:r>
              <a:rPr lang="en-US" dirty="0"/>
              <a:t>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Recommendation: Target Undervalued Hitters for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Action  → 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ACTION: Target players with top-quartile barrel rates (&gt;10%) and below-average BABIP (&lt;.280)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OUTCOME: Expected regression to the mean projects 15–25 point batting average increases</a:t>
            </a:r>
          </a:p>
          <a:p>
            <a:pPr>
              <a:spcAft>
                <a:spcPts val="800"/>
              </a:spcAft>
              <a:defRPr sz="1800">
                <a:solidFill>
                  <a:srgbClr val="1B2A4A"/>
                </a:solidFill>
              </a:defRPr>
            </a:pPr>
            <a:r>
              <a:t>VALUE: These players are available below market value because traditional stats understate their talent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960120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Decision Framework</a:t>
            </a:r>
          </a:p>
          <a:p>
            <a:pPr>
              <a:spcBef>
                <a:spcPts val="600"/>
              </a:spcBef>
              <a:defRPr sz="1600">
                <a:solidFill>
                  <a:srgbClr val="1B2A4A"/>
                </a:solidFill>
              </a:defRPr>
            </a:pPr>
            <a:r>
              <a:t>1. Screen: Barrel % &gt; 10%, BABIP &lt; .280, PA &gt; 100</a:t>
            </a:r>
          </a:p>
          <a:p>
            <a:pPr>
              <a:spcBef>
                <a:spcPts val="600"/>
              </a:spcBef>
              <a:defRPr sz="1600">
                <a:solidFill>
                  <a:srgbClr val="1B2A4A"/>
                </a:solidFill>
              </a:defRPr>
            </a:pPr>
            <a:r>
              <a:t>2. Diagnose: Check xwOBA vs. BA gap score (positive = undervalued)</a:t>
            </a:r>
          </a:p>
          <a:p>
            <a:pPr>
              <a:spcBef>
                <a:spcPts val="600"/>
              </a:spcBef>
              <a:defRPr sz="1600">
                <a:solidFill>
                  <a:srgbClr val="1B2A4A"/>
                </a:solidFill>
              </a:defRPr>
            </a:pPr>
            <a:r>
              <a:t>3. Confirm: Review rolling trend — is contact quality sustained or fluky?</a:t>
            </a:r>
          </a:p>
          <a:p>
            <a:pPr>
              <a:spcBef>
                <a:spcPts val="600"/>
              </a:spcBef>
              <a:defRPr sz="1600">
                <a:solidFill>
                  <a:srgbClr val="1B2A4A"/>
                </a:solidFill>
              </a:defRPr>
            </a:pPr>
            <a:r>
              <a:t>4. Act: Acquire before BABIP regression corrects the market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rPr dirty="0"/>
              <a:t>End-to-End Pipeline: From Raw APIs to Actionable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606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</a:defRPr>
            </a:pPr>
            <a:r>
              <a:rPr dirty="0"/>
              <a:t>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25068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Extract: MLB Stats API + Pybaseball (</a:t>
            </a:r>
            <a:r>
              <a:rPr dirty="0" err="1"/>
              <a:t>Statcast</a:t>
            </a:r>
            <a:r>
              <a:rPr dirty="0"/>
              <a:t>)</a:t>
            </a:r>
            <a:br>
              <a:rPr dirty="0"/>
            </a:br>
            <a:r>
              <a:rPr dirty="0"/>
              <a:t>pull player stats, game logs, and batted-ball data</a:t>
            </a:r>
          </a:p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Load: Python scripts write to Snowflake RAW schema</a:t>
            </a:r>
            <a:br>
              <a:rPr dirty="0"/>
            </a:br>
            <a:r>
              <a:rPr dirty="0"/>
              <a:t>via snowflake-connector-python</a:t>
            </a:r>
          </a:p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Transform: </a:t>
            </a:r>
            <a:r>
              <a:rPr dirty="0" err="1"/>
              <a:t>dbt</a:t>
            </a:r>
            <a:r>
              <a:rPr dirty="0"/>
              <a:t> builds staging views and mart tables</a:t>
            </a:r>
            <a:br>
              <a:rPr dirty="0"/>
            </a:br>
            <a:r>
              <a:rPr dirty="0"/>
              <a:t>(star schema: 2 facts + 4 dimensions)</a:t>
            </a:r>
          </a:p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Present: </a:t>
            </a:r>
            <a:r>
              <a:rPr dirty="0" err="1"/>
              <a:t>Streamlit</a:t>
            </a:r>
            <a:r>
              <a:rPr dirty="0"/>
              <a:t> dashboard with Plotly charts</a:t>
            </a:r>
            <a:br>
              <a:rPr dirty="0"/>
            </a:br>
            <a:r>
              <a:rPr dirty="0"/>
              <a:t>deployed to Community Cloud</a:t>
            </a:r>
          </a:p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Knowledge Base: 16 sources scraped from FanGraphs,</a:t>
            </a:r>
            <a:br>
              <a:rPr dirty="0"/>
            </a:br>
            <a:r>
              <a:rPr dirty="0"/>
              <a:t>Baseball Savant, BP → 4 synthesized wiki pages</a:t>
            </a:r>
          </a:p>
          <a:p>
            <a:pPr>
              <a:spcAft>
                <a:spcPts val="800"/>
              </a:spcAft>
              <a:defRPr sz="1500">
                <a:solidFill>
                  <a:srgbClr val="1B2A4A"/>
                </a:solidFill>
              </a:defRPr>
            </a:pPr>
            <a:r>
              <a:rPr dirty="0"/>
              <a:t>Orchestrate: GitHub Actions runs daily ELT</a:t>
            </a:r>
            <a:br>
              <a:rPr dirty="0"/>
            </a:br>
            <a:r>
              <a:rPr dirty="0"/>
              <a:t>and weekly knowledge base re-scrape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05CFF-DA02-9010-5949-917DC5D37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351" y="2873554"/>
            <a:ext cx="6950927" cy="22390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465</Words>
  <Application>Microsoft Macintosh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Schoolcraft, Aaron</cp:lastModifiedBy>
  <cp:revision>2</cp:revision>
  <dcterms:created xsi:type="dcterms:W3CDTF">2013-01-27T09:14:16Z</dcterms:created>
  <dcterms:modified xsi:type="dcterms:W3CDTF">2026-05-05T03:17:11Z</dcterms:modified>
  <cp:category/>
</cp:coreProperties>
</file>